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86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962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77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71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83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22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26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38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86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709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071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2857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508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2985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94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177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569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1FBF5-6A9E-49FC-B008-2BDF48F0D5E7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0CC694-F629-4832-B7CB-80141B7811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11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C012B3-B72F-0F89-4B4C-0294EE541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Определители 2-го и 3-его порядка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CB8008-101B-B8DD-EB1C-6A3BDE65C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Презентация по дисциплине </a:t>
            </a:r>
          </a:p>
          <a:p>
            <a:r>
              <a:rPr lang="ru-RU" dirty="0"/>
              <a:t>«Элементы высшей математики»</a:t>
            </a:r>
          </a:p>
        </p:txBody>
      </p:sp>
    </p:spTree>
    <p:extLst>
      <p:ext uri="{BB962C8B-B14F-4D97-AF65-F5344CB8AC3E}">
        <p14:creationId xmlns:p14="http://schemas.microsoft.com/office/powerpoint/2010/main" val="170088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66272-8F7A-6E3E-1A9D-D7E8589CC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определителя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7F4FBC-4062-DC75-3F07-963A02F2B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2133600"/>
            <a:ext cx="8911688" cy="4100290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Определение:</a:t>
            </a:r>
          </a:p>
          <a:p>
            <a:pPr marL="0" indent="0" algn="just">
              <a:buNone/>
            </a:pPr>
            <a:r>
              <a:rPr lang="ru-RU" dirty="0"/>
              <a:t>Это число, которое ставится в соответствие каждой квадратной матрице и является её основной характеристикой.</a:t>
            </a:r>
          </a:p>
          <a:p>
            <a:pPr algn="just"/>
            <a:r>
              <a:rPr lang="ru-RU" dirty="0"/>
              <a:t>Обозначение:</a:t>
            </a:r>
          </a:p>
          <a:p>
            <a:pPr marL="0" indent="0" algn="just">
              <a:buNone/>
            </a:pPr>
            <a:r>
              <a:rPr lang="ru-RU" dirty="0"/>
              <a:t>Δ</a:t>
            </a:r>
          </a:p>
          <a:p>
            <a:pPr algn="just"/>
            <a:r>
              <a:rPr lang="ru-RU" dirty="0"/>
              <a:t>Главное правило:</a:t>
            </a:r>
          </a:p>
          <a:p>
            <a:pPr marL="0" indent="0" algn="just">
              <a:buNone/>
            </a:pPr>
            <a:r>
              <a:rPr lang="ru-RU" dirty="0"/>
              <a:t>Определитель можно вычислить только для квадратных матриц (2x2, 3x3 и т.д.).</a:t>
            </a:r>
          </a:p>
        </p:txBody>
      </p:sp>
    </p:spTree>
    <p:extLst>
      <p:ext uri="{BB962C8B-B14F-4D97-AF65-F5344CB8AC3E}">
        <p14:creationId xmlns:p14="http://schemas.microsoft.com/office/powerpoint/2010/main" val="261613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EC6A54-A21B-507E-4437-CEA46426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Определитель 2-го порядка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1269D2-0729-B249-BF7A-E5EF42C12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437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Вычисляется для матрицы размером 2x2.</a:t>
            </a:r>
          </a:p>
          <a:p>
            <a:pPr marL="0" indent="0" algn="just">
              <a:buNone/>
            </a:pPr>
            <a:r>
              <a:rPr lang="ru-RU" dirty="0"/>
              <a:t>Формула:</a:t>
            </a:r>
          </a:p>
          <a:p>
            <a:pPr marL="0" indent="0" algn="just">
              <a:buNone/>
            </a:pPr>
            <a:r>
              <a:rPr lang="ru-RU" dirty="0"/>
              <a:t>Для матрицы: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Δ = a₁₁ · a₂₂ - a₁₂ · a₂₁</a:t>
            </a:r>
          </a:p>
          <a:p>
            <a:pPr marL="0" indent="0" algn="just">
              <a:buNone/>
            </a:pPr>
            <a:r>
              <a:rPr lang="ru-RU" dirty="0"/>
              <a:t>Правило вычисления:</a:t>
            </a:r>
          </a:p>
          <a:p>
            <a:pPr marL="0" indent="0" algn="just">
              <a:buNone/>
            </a:pPr>
            <a:r>
              <a:rPr lang="ru-RU" dirty="0"/>
              <a:t>Нужно из произведения элементов главной диагонали (сверху вниз) вычесть произведение элементов побочной диагонали (снизу вверх).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BA36A9-F050-1DB4-84E6-D8B2E4C9D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429000"/>
            <a:ext cx="1538143" cy="6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1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97105-D708-CCA2-538E-86084FFF6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753B1D-933D-F223-2131-76A957BBE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Записываем матрицу: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Перемножаем элементы главной диагонали:</a:t>
            </a:r>
          </a:p>
          <a:p>
            <a:pPr marL="0" indent="0">
              <a:buNone/>
            </a:pPr>
            <a:r>
              <a:rPr lang="ru-RU" dirty="0"/>
              <a:t>5 * 3 = 15</a:t>
            </a:r>
          </a:p>
          <a:p>
            <a:pPr marL="0" indent="0">
              <a:buNone/>
            </a:pPr>
            <a:r>
              <a:rPr lang="ru-RU" dirty="0"/>
              <a:t>Перемножаем элементы побочной диагонали:</a:t>
            </a:r>
          </a:p>
          <a:p>
            <a:pPr marL="0" indent="0">
              <a:buNone/>
            </a:pPr>
            <a:r>
              <a:rPr lang="ru-RU" dirty="0"/>
              <a:t>2 * 4 = 8</a:t>
            </a:r>
          </a:p>
          <a:p>
            <a:pPr marL="0" indent="0">
              <a:buNone/>
            </a:pPr>
            <a:r>
              <a:rPr lang="ru-RU" dirty="0"/>
              <a:t>Находим разность:</a:t>
            </a:r>
          </a:p>
          <a:p>
            <a:pPr marL="0" indent="0">
              <a:buNone/>
            </a:pPr>
            <a:r>
              <a:rPr lang="el-GR" dirty="0"/>
              <a:t>Δ</a:t>
            </a:r>
            <a:r>
              <a:rPr lang="ru-RU" dirty="0"/>
              <a:t> = 15 – 8 = 7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DD7CD8-8913-91F4-4026-B1CDE5441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993" y="2509794"/>
            <a:ext cx="1016567" cy="75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2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3F77E-866C-6F30-0D58-FBA128C8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Определитель 3-го порядка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1DA0F-088D-028B-2263-0121B00A3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Матрица вида: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Может вычисляться несколькими методами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9D0E27-AA05-0F1C-B1F4-650FC6728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587" y="2692640"/>
            <a:ext cx="2416417" cy="118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51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3CCE6-9581-D869-5E9C-F96363CC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Саррюса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2C10B5-723C-B750-40DB-D79A1F2BC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9017572" cy="3777622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Метод Саррюса (правило «полосок»)</a:t>
            </a:r>
          </a:p>
          <a:p>
            <a:pPr marL="0" indent="0" algn="just">
              <a:buNone/>
            </a:pPr>
            <a:r>
              <a:rPr lang="ru-RU" dirty="0"/>
              <a:t>Применяется для вычисления определителей третьего порядка (</a:t>
            </a:r>
            <a:r>
              <a:rPr lang="el-GR" dirty="0"/>
              <a:t>Δ</a:t>
            </a:r>
            <a:r>
              <a:rPr lang="ru-RU" dirty="0"/>
              <a:t>)</a:t>
            </a:r>
          </a:p>
          <a:p>
            <a:pPr algn="just"/>
            <a:r>
              <a:rPr lang="ru-RU" dirty="0"/>
              <a:t>Алгоритм:</a:t>
            </a:r>
          </a:p>
          <a:p>
            <a:pPr marL="0" indent="0" algn="just">
              <a:buNone/>
            </a:pPr>
            <a:r>
              <a:rPr lang="ru-RU" dirty="0"/>
              <a:t>Справа от определителя дописываются первые два столбца.</a:t>
            </a:r>
          </a:p>
          <a:p>
            <a:pPr marL="0" indent="0" algn="just">
              <a:buNone/>
            </a:pPr>
            <a:r>
              <a:rPr lang="ru-RU" dirty="0"/>
              <a:t>Элементы, стоящие на трех диагоналях, идущих слева направо сверху вниз, перемножаются и складываются.</a:t>
            </a:r>
          </a:p>
          <a:p>
            <a:pPr marL="0" indent="0" algn="just">
              <a:buNone/>
            </a:pPr>
            <a:r>
              <a:rPr lang="ru-RU" dirty="0"/>
              <a:t>Элементы, стоящие на трех диагоналях, идущих слева направо снизу вверх, перемножаются и вычитаются.</a:t>
            </a:r>
          </a:p>
          <a:p>
            <a:pPr algn="just"/>
            <a:r>
              <a:rPr lang="ru-RU" dirty="0"/>
              <a:t>Формула:</a:t>
            </a:r>
          </a:p>
          <a:p>
            <a:pPr marL="0" indent="0" algn="just">
              <a:buNone/>
            </a:pPr>
            <a:r>
              <a:rPr lang="ru-RU" dirty="0"/>
              <a:t>Δ = (главные диагонали) — (побочные диагонали)</a:t>
            </a:r>
          </a:p>
        </p:txBody>
      </p:sp>
    </p:spTree>
    <p:extLst>
      <p:ext uri="{BB962C8B-B14F-4D97-AF65-F5344CB8AC3E}">
        <p14:creationId xmlns:p14="http://schemas.microsoft.com/office/powerpoint/2010/main" val="31143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7846A-E6F4-DD20-8063-3C3ECDF1D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Пример вычисления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A27B31-86AA-B81B-7CAD-902935960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704" y="1832578"/>
            <a:ext cx="10168128" cy="4401312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ru-RU" sz="7200" dirty="0"/>
              <a:t>Задание: Вычислить Δ методом Саррюса.</a:t>
            </a:r>
          </a:p>
          <a:p>
            <a:pPr marL="0" indent="0" algn="just">
              <a:buNone/>
            </a:pPr>
            <a:r>
              <a:rPr lang="ru-RU" sz="7200" dirty="0"/>
              <a:t>Дано:</a:t>
            </a:r>
          </a:p>
          <a:p>
            <a:pPr marL="0" indent="0" algn="just">
              <a:buNone/>
            </a:pPr>
            <a:endParaRPr lang="ru-RU" sz="7200" dirty="0"/>
          </a:p>
          <a:p>
            <a:pPr marL="0" indent="0" algn="just">
              <a:buNone/>
            </a:pPr>
            <a:endParaRPr lang="ru-RU" sz="7200" dirty="0"/>
          </a:p>
          <a:p>
            <a:pPr marL="0" indent="0" algn="just">
              <a:buNone/>
            </a:pPr>
            <a:r>
              <a:rPr lang="ru-RU" sz="7200" dirty="0"/>
              <a:t>Решение:</a:t>
            </a:r>
          </a:p>
          <a:p>
            <a:pPr marL="0" indent="0" algn="just">
              <a:buNone/>
            </a:pPr>
            <a:r>
              <a:rPr lang="ru-RU" sz="7200" dirty="0"/>
              <a:t>Дописываем первые два столбца и считаем суммы произведений:</a:t>
            </a:r>
          </a:p>
          <a:p>
            <a:pPr marL="0" indent="0" algn="just">
              <a:buNone/>
            </a:pPr>
            <a:r>
              <a:rPr lang="ru-RU" sz="7200" dirty="0"/>
              <a:t>Положительная часть:</a:t>
            </a:r>
          </a:p>
          <a:p>
            <a:pPr marL="0" indent="0" algn="just">
              <a:buNone/>
            </a:pPr>
            <a:r>
              <a:rPr lang="ru-RU" sz="7200" dirty="0"/>
              <a:t>(1 · 5 · 9) + (2 · 6 · 7) + (3 · 4 · 8) = 45 + 84 + 96 = 225</a:t>
            </a:r>
          </a:p>
          <a:p>
            <a:pPr marL="0" indent="0" algn="just">
              <a:buNone/>
            </a:pPr>
            <a:r>
              <a:rPr lang="ru-RU" sz="7200" dirty="0"/>
              <a:t>Отрицательная часть:</a:t>
            </a:r>
          </a:p>
          <a:p>
            <a:pPr marL="0" indent="0" algn="just">
              <a:buNone/>
            </a:pPr>
            <a:r>
              <a:rPr lang="ru-RU" sz="7200" dirty="0"/>
              <a:t>(3 · 5 · 7) + (1 · 6 · 8) + (2 · 4 · 9) = 105 + 48 + 72 = 225</a:t>
            </a:r>
          </a:p>
          <a:p>
            <a:pPr marL="0" indent="0" algn="just">
              <a:buNone/>
            </a:pPr>
            <a:r>
              <a:rPr lang="ru-RU" sz="7200" dirty="0"/>
              <a:t>Итог:</a:t>
            </a:r>
          </a:p>
          <a:p>
            <a:pPr marL="0" indent="0" algn="just">
              <a:buNone/>
            </a:pPr>
            <a:r>
              <a:rPr lang="ru-RU" sz="7200" dirty="0"/>
              <a:t>Δ = 225 — 225 = 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1D65EC-35A5-C24A-4558-F4D88E271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704" y="2466803"/>
            <a:ext cx="1295581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5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0EBDB-E725-BF91-39CE-AF537F0A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определителя по строке/столбцу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75EA7E-C6D7-654A-1717-ACBB84691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Суть метода: </a:t>
            </a:r>
          </a:p>
          <a:p>
            <a:pPr marL="0" indent="0" algn="just">
              <a:buNone/>
            </a:pPr>
            <a:r>
              <a:rPr lang="ru-RU" dirty="0"/>
              <a:t>Сведение определителя к сумме определителей меньшего порядка.</a:t>
            </a:r>
          </a:p>
          <a:p>
            <a:pPr algn="just"/>
            <a:r>
              <a:rPr lang="ru-RU" dirty="0"/>
              <a:t>Формула (по i-й строке):</a:t>
            </a:r>
          </a:p>
          <a:p>
            <a:pPr marL="0" indent="0" algn="just">
              <a:buNone/>
            </a:pPr>
            <a:r>
              <a:rPr lang="ru-RU" dirty="0"/>
              <a:t>Δ = aᵢ₁·Aᵢ₁ + aᵢ₂·Aᵢ₂ + ... + aᵢₙ·Aᵢₙ</a:t>
            </a:r>
          </a:p>
          <a:p>
            <a:pPr algn="just"/>
            <a:r>
              <a:rPr lang="ru-RU" dirty="0"/>
              <a:t>Ключевые понятия:</a:t>
            </a:r>
          </a:p>
          <a:p>
            <a:pPr algn="just">
              <a:buFont typeface="+mj-lt"/>
              <a:buAutoNum type="arabicPeriod"/>
            </a:pPr>
            <a:r>
              <a:rPr lang="ru-RU" dirty="0"/>
              <a:t>Минор (Mᵢⱼ) — определитель, полученный вычеркиванием строки и столбца элемента.</a:t>
            </a:r>
          </a:p>
          <a:p>
            <a:pPr algn="just">
              <a:buFont typeface="+mj-lt"/>
              <a:buAutoNum type="arabicPeriod"/>
            </a:pPr>
            <a:r>
              <a:rPr lang="ru-RU" dirty="0"/>
              <a:t>Алгебраическое дополнение (Aᵢⱼ) — это минор с учетом знака: Aᵢⱼ = (-1)ⁱ⁺ʲ · Mᵢⱼ.</a:t>
            </a:r>
          </a:p>
          <a:p>
            <a:pPr marL="0" indent="0" algn="just">
              <a:buNone/>
            </a:pPr>
            <a:r>
              <a:rPr lang="ru-RU" dirty="0"/>
              <a:t>Этот метод используется для решения определителей любых размеров</a:t>
            </a:r>
          </a:p>
        </p:txBody>
      </p:sp>
    </p:spTree>
    <p:extLst>
      <p:ext uri="{BB962C8B-B14F-4D97-AF65-F5344CB8AC3E}">
        <p14:creationId xmlns:p14="http://schemas.microsoft.com/office/powerpoint/2010/main" val="2790856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43F29-75DF-2A3A-FCC2-595F1C71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определителя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883699-5597-F894-21F3-1A5EBACB5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0592" y="2036064"/>
            <a:ext cx="9412224" cy="4291584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Перестановка строк:</a:t>
            </a:r>
          </a:p>
          <a:p>
            <a:pPr marL="0" indent="0" algn="just">
              <a:buNone/>
            </a:pPr>
            <a:r>
              <a:rPr lang="ru-RU" dirty="0"/>
              <a:t>При перестановке двух строк (или столбцов) определитель меняет знак на противоположный</a:t>
            </a:r>
          </a:p>
          <a:p>
            <a:pPr algn="just"/>
            <a:r>
              <a:rPr lang="ru-RU" dirty="0"/>
              <a:t>Одинаковые строки:</a:t>
            </a:r>
          </a:p>
          <a:p>
            <a:pPr marL="0" indent="0" algn="just">
              <a:buNone/>
            </a:pPr>
            <a:r>
              <a:rPr lang="ru-RU" dirty="0"/>
              <a:t>Если в матрице есть две одинаковые строки (или столбца), то определитель равен нулю</a:t>
            </a:r>
          </a:p>
          <a:p>
            <a:pPr algn="just"/>
            <a:r>
              <a:rPr lang="ru-RU" dirty="0"/>
              <a:t>Вынесение множителя:</a:t>
            </a:r>
          </a:p>
          <a:p>
            <a:pPr marL="0" indent="0" algn="just">
              <a:buNone/>
            </a:pPr>
            <a:r>
              <a:rPr lang="ru-RU" dirty="0"/>
              <a:t>Общий множитель элементов одной строки (или столбца) можно вынести за знак определителя:</a:t>
            </a:r>
          </a:p>
          <a:p>
            <a:pPr algn="just"/>
            <a:r>
              <a:rPr lang="ru-RU" dirty="0"/>
              <a:t>Нулевая строка:</a:t>
            </a:r>
          </a:p>
          <a:p>
            <a:pPr marL="0" indent="0" algn="just">
              <a:buNone/>
            </a:pPr>
            <a:r>
              <a:rPr lang="ru-RU" dirty="0"/>
              <a:t>Если все элементы какой-либо строки (или столбца) равны нулю, то весь определитель равен нулю:</a:t>
            </a:r>
          </a:p>
        </p:txBody>
      </p:sp>
    </p:spTree>
    <p:extLst>
      <p:ext uri="{BB962C8B-B14F-4D97-AF65-F5344CB8AC3E}">
        <p14:creationId xmlns:p14="http://schemas.microsoft.com/office/powerpoint/2010/main" val="381370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D72F8-8463-D1AF-63BB-C4037D3C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Крамера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D4C02E-0EAD-E289-5DBC-DD10A7B72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1342" y="1767840"/>
            <a:ext cx="9614852" cy="49621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Алгоритм решения:</a:t>
            </a:r>
          </a:p>
          <a:p>
            <a:pPr algn="just">
              <a:buFont typeface="+mj-lt"/>
              <a:buAutoNum type="arabicPeriod"/>
            </a:pPr>
            <a:r>
              <a:rPr lang="ru-RU" dirty="0"/>
              <a:t>Главный определитель (Δ):</a:t>
            </a:r>
          </a:p>
          <a:p>
            <a:pPr marL="0" indent="0" algn="just">
              <a:buNone/>
            </a:pPr>
            <a:r>
              <a:rPr lang="ru-RU" dirty="0"/>
              <a:t>Составляется из коэффициентов при переменных.</a:t>
            </a:r>
          </a:p>
          <a:p>
            <a:pPr algn="just"/>
            <a:r>
              <a:rPr lang="ru-RU" dirty="0"/>
              <a:t>Система имеет единственное решение, только если Δ ≠ 0.</a:t>
            </a:r>
          </a:p>
          <a:p>
            <a:pPr algn="just">
              <a:buFont typeface="+mj-lt"/>
              <a:buAutoNum type="arabicPeriod" startAt="2"/>
            </a:pPr>
            <a:r>
              <a:rPr lang="ru-RU" dirty="0"/>
              <a:t>Вспомогательные определители (Δₓ, Δᵧ...):</a:t>
            </a:r>
          </a:p>
          <a:p>
            <a:pPr marL="0" indent="0" algn="just">
              <a:buNone/>
            </a:pPr>
            <a:r>
              <a:rPr lang="ru-RU" dirty="0"/>
              <a:t>Получаются путем замены столбца нужной переменной на столбец свободных членов.</a:t>
            </a:r>
          </a:p>
          <a:p>
            <a:pPr algn="just">
              <a:buFont typeface="+mj-lt"/>
              <a:buAutoNum type="arabicPeriod" startAt="3"/>
            </a:pPr>
            <a:r>
              <a:rPr lang="ru-RU" dirty="0"/>
              <a:t>Формулы Крамера:</a:t>
            </a:r>
          </a:p>
          <a:p>
            <a:pPr marL="0" indent="0" algn="just">
              <a:buNone/>
            </a:pPr>
            <a:r>
              <a:rPr lang="ru-RU" dirty="0"/>
              <a:t>Неизвестные находятся как отношение определителей:</a:t>
            </a:r>
          </a:p>
          <a:p>
            <a:pPr marL="0" indent="0" algn="just">
              <a:buNone/>
            </a:pPr>
            <a:r>
              <a:rPr lang="ru-RU" dirty="0"/>
              <a:t>x = Δₓ / Δ</a:t>
            </a:r>
          </a:p>
          <a:p>
            <a:pPr marL="0" indent="0" algn="just">
              <a:buNone/>
            </a:pPr>
            <a:r>
              <a:rPr lang="ru-RU" dirty="0"/>
              <a:t>y = Δᵧ / Δ</a:t>
            </a:r>
          </a:p>
          <a:p>
            <a:pPr marL="0" indent="0" algn="just">
              <a:buNone/>
            </a:pPr>
            <a:r>
              <a:rPr lang="ru-RU" dirty="0"/>
              <a:t>z = Δ₂ / Δ</a:t>
            </a:r>
          </a:p>
        </p:txBody>
      </p:sp>
    </p:spTree>
    <p:extLst>
      <p:ext uri="{BB962C8B-B14F-4D97-AF65-F5344CB8AC3E}">
        <p14:creationId xmlns:p14="http://schemas.microsoft.com/office/powerpoint/2010/main" val="2121183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82891-0A09-6432-0152-F7CF108E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F9F396-B17B-4F58-70B9-F5782B834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1905000"/>
            <a:ext cx="9013860" cy="4328890"/>
          </a:xfrm>
        </p:spPr>
        <p:txBody>
          <a:bodyPr/>
          <a:lstStyle/>
          <a:p>
            <a:pPr algn="just"/>
            <a:r>
              <a:rPr lang="ru-RU" dirty="0"/>
              <a:t>Суть метода:</a:t>
            </a:r>
          </a:p>
          <a:p>
            <a:pPr marL="0" indent="0" algn="just">
              <a:buNone/>
            </a:pPr>
            <a:r>
              <a:rPr lang="ru-RU" dirty="0"/>
              <a:t>Приведение расширенной матрицы системы к ступенчатому виду (треугольному) с помощью элементарных преобразований.</a:t>
            </a:r>
          </a:p>
          <a:p>
            <a:pPr algn="just"/>
            <a:r>
              <a:rPr lang="ru-RU" dirty="0"/>
              <a:t>Этапы решения:</a:t>
            </a:r>
          </a:p>
          <a:p>
            <a:pPr algn="just">
              <a:buFont typeface="+mj-lt"/>
              <a:buAutoNum type="arabicPeriod"/>
            </a:pPr>
            <a:r>
              <a:rPr lang="ru-RU" dirty="0"/>
              <a:t>Прямой ход:</a:t>
            </a:r>
          </a:p>
          <a:p>
            <a:pPr marL="0" indent="0" algn="just">
              <a:buNone/>
            </a:pPr>
            <a:r>
              <a:rPr lang="ru-RU" dirty="0"/>
              <a:t>С помощью вычитания строк друг из друга под главной диагональю создаются нули. Система превращается в «лесенку».</a:t>
            </a:r>
          </a:p>
          <a:p>
            <a:pPr algn="just">
              <a:buFont typeface="+mj-lt"/>
              <a:buAutoNum type="arabicPeriod" startAt="2"/>
            </a:pPr>
            <a:r>
              <a:rPr lang="ru-RU" dirty="0"/>
              <a:t>Обратный ход:</a:t>
            </a:r>
          </a:p>
          <a:p>
            <a:pPr marL="0" indent="0" algn="just">
              <a:buNone/>
            </a:pPr>
            <a:r>
              <a:rPr lang="ru-RU" dirty="0"/>
              <a:t>Из полученного упрощенного уравнения находится последняя переменная, затем через неё — предпоследняя, и так далее до первой.</a:t>
            </a:r>
          </a:p>
        </p:txBody>
      </p:sp>
    </p:spTree>
    <p:extLst>
      <p:ext uri="{BB962C8B-B14F-4D97-AF65-F5344CB8AC3E}">
        <p14:creationId xmlns:p14="http://schemas.microsoft.com/office/powerpoint/2010/main" val="909378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6A437-9725-1874-A5C8-FE00F0D9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ECC3E7-FEBB-2D92-733B-9776C4BDA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Решение СЛАУ: использование в методах Крамера и Гаусса.</a:t>
            </a:r>
          </a:p>
          <a:p>
            <a:pPr algn="just"/>
            <a:r>
              <a:rPr lang="ru-RU" dirty="0"/>
              <a:t>Геометрия: расчет площадей и объемов фигур.</a:t>
            </a:r>
          </a:p>
          <a:p>
            <a:pPr algn="just"/>
            <a:r>
              <a:rPr lang="ru-RU" dirty="0"/>
              <a:t>Векторная алгебра: вычисление векторного и смешанного произведений.</a:t>
            </a:r>
          </a:p>
          <a:p>
            <a:pPr algn="just"/>
            <a:r>
              <a:rPr lang="ru-RU" dirty="0"/>
              <a:t>Компьютерная графика: расчет поворотов и трансформаций объектов.</a:t>
            </a:r>
          </a:p>
          <a:p>
            <a:pPr algn="just"/>
            <a:r>
              <a:rPr lang="ru-RU" dirty="0"/>
              <a:t>Экономика: моделирование баланса между отраслями производства.</a:t>
            </a:r>
          </a:p>
          <a:p>
            <a:pPr algn="just"/>
            <a:r>
              <a:rPr lang="ru-RU" dirty="0"/>
              <a:t>Криптография: шифрование данных (например, шифр Хилла).</a:t>
            </a:r>
          </a:p>
        </p:txBody>
      </p:sp>
    </p:spTree>
    <p:extLst>
      <p:ext uri="{BB962C8B-B14F-4D97-AF65-F5344CB8AC3E}">
        <p14:creationId xmlns:p14="http://schemas.microsoft.com/office/powerpoint/2010/main" val="2354103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B9E37-6D1A-85A2-42A3-C9A28938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CD4D4-DEB5-F34C-D63A-6619A245D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Определитель (Δ) — фундаментальный инструмент линейной алгебры, позволяющий свести свойства матрицы к одному числу.</a:t>
            </a:r>
          </a:p>
          <a:p>
            <a:pPr algn="just"/>
            <a:r>
              <a:rPr lang="ru-RU" dirty="0"/>
              <a:t>Знание свойств Δ и методов его вычисления (Саррюса, разложение по строке) существенно упрощает сложные расчеты.</a:t>
            </a:r>
          </a:p>
          <a:p>
            <a:pPr algn="just"/>
            <a:r>
              <a:rPr lang="ru-RU" dirty="0"/>
              <a:t>Метод Крамера наглядно показывает практическую связь между теорией определителей и решением реальных прикладных задач.</a:t>
            </a:r>
          </a:p>
          <a:p>
            <a:pPr algn="just"/>
            <a:r>
              <a:rPr lang="ru-RU" dirty="0"/>
              <a:t>Владение этими методами является базой для изучения высшей математики, программирования и экономического моделирования.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553775382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61</TotalTime>
  <Words>752</Words>
  <Application>Microsoft Office PowerPoint</Application>
  <PresentationFormat>Широкоэкранный</PresentationFormat>
  <Paragraphs>111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Легкий дым</vt:lpstr>
      <vt:lpstr>Определители 2-го и 3-его порядка</vt:lpstr>
      <vt:lpstr>Понятие определителя</vt:lpstr>
      <vt:lpstr>Определитель 2-го порядка</vt:lpstr>
      <vt:lpstr>Пример</vt:lpstr>
      <vt:lpstr>Определитель 3-го порядка</vt:lpstr>
      <vt:lpstr>Метод Саррюса</vt:lpstr>
      <vt:lpstr> Пример вычисления </vt:lpstr>
      <vt:lpstr>Разложение определителя по строке/столбцу</vt:lpstr>
      <vt:lpstr>свойства определителя</vt:lpstr>
      <vt:lpstr>Метод Крамера</vt:lpstr>
      <vt:lpstr>Метод Гаусса</vt:lpstr>
      <vt:lpstr>Применение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Разумов</dc:creator>
  <cp:lastModifiedBy>Илья Разумов</cp:lastModifiedBy>
  <cp:revision>2</cp:revision>
  <dcterms:created xsi:type="dcterms:W3CDTF">2026-04-19T19:06:48Z</dcterms:created>
  <dcterms:modified xsi:type="dcterms:W3CDTF">2026-04-19T20:08:01Z</dcterms:modified>
</cp:coreProperties>
</file>