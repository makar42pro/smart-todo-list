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24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94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078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27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388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19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902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683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06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092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5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716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196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666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027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344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13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43FEED-63FF-4311-8F99-0DBBB136106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BEA53B7-DAAC-4559-B9D2-83D7D3058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72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81CE9-8159-DFBC-1316-84D1F5AD53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Числовые ряды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2E9252-A424-E0ED-2074-55455146BD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Презентация по дисциплине </a:t>
            </a:r>
          </a:p>
          <a:p>
            <a:r>
              <a:rPr lang="ru-RU" dirty="0"/>
              <a:t>«Элементы высшей математики»</a:t>
            </a:r>
          </a:p>
        </p:txBody>
      </p:sp>
    </p:spTree>
    <p:extLst>
      <p:ext uri="{BB962C8B-B14F-4D97-AF65-F5344CB8AC3E}">
        <p14:creationId xmlns:p14="http://schemas.microsoft.com/office/powerpoint/2010/main" val="554277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2AAEE-20E4-C796-99EB-39EB075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числового ряда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9BF8E-8295-5ED0-82F7-F650F4217A7F}"/>
              </a:ext>
            </a:extLst>
          </p:cNvPr>
          <p:cNvSpPr txBox="1"/>
          <p:nvPr/>
        </p:nvSpPr>
        <p:spPr>
          <a:xfrm>
            <a:off x="1405467" y="2582333"/>
            <a:ext cx="94911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Числовой ряд - это бесконечная сумма чисел, упорядоченных в определенной последовательности. </a:t>
            </a:r>
          </a:p>
          <a:p>
            <a:pPr algn="just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D60720-B4AF-C678-FED6-A84FB0B2C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511" y="3505663"/>
            <a:ext cx="4412977" cy="9233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7E5DBB-8B39-334C-D981-7AA6008AF98B}"/>
              </a:ext>
            </a:extLst>
          </p:cNvPr>
          <p:cNvSpPr txBox="1"/>
          <p:nvPr/>
        </p:nvSpPr>
        <p:spPr>
          <a:xfrm>
            <a:off x="1405467" y="4572002"/>
            <a:ext cx="9601196" cy="468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Обозначается как сумма бесконечного числа слагаемых</a:t>
            </a:r>
          </a:p>
        </p:txBody>
      </p:sp>
    </p:spTree>
    <p:extLst>
      <p:ext uri="{BB962C8B-B14F-4D97-AF65-F5344CB8AC3E}">
        <p14:creationId xmlns:p14="http://schemas.microsoft.com/office/powerpoint/2010/main" val="451905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6FC48-8770-AAFC-A777-6008DE650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Общий вид ряда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6A4BB1-217B-90B0-AF81-C1732B9316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96" t="919" r="4384" b="68161"/>
          <a:stretch/>
        </p:blipFill>
        <p:spPr>
          <a:xfrm>
            <a:off x="3165948" y="3429000"/>
            <a:ext cx="5860104" cy="8883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CC340B-6899-1A53-BC0F-3CC5BB090C0E}"/>
              </a:ext>
            </a:extLst>
          </p:cNvPr>
          <p:cNvSpPr txBox="1"/>
          <p:nvPr/>
        </p:nvSpPr>
        <p:spPr>
          <a:xfrm>
            <a:off x="1295402" y="4317326"/>
            <a:ext cx="9601196" cy="12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Где: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lang="ru-RU" dirty="0"/>
              <a:t> = общи член ряда 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 = 1, 2, 3,… - </a:t>
            </a:r>
            <a:r>
              <a:rPr lang="ru-RU" dirty="0"/>
              <a:t>номер члена ряда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0145E-0360-F627-FCD9-7A1F3AC4CBAA}"/>
              </a:ext>
            </a:extLst>
          </p:cNvPr>
          <p:cNvSpPr txBox="1"/>
          <p:nvPr/>
        </p:nvSpPr>
        <p:spPr>
          <a:xfrm>
            <a:off x="1295402" y="2804992"/>
            <a:ext cx="9601196" cy="468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Общий вид числового ряда :</a:t>
            </a:r>
          </a:p>
        </p:txBody>
      </p:sp>
    </p:spTree>
    <p:extLst>
      <p:ext uri="{BB962C8B-B14F-4D97-AF65-F5344CB8AC3E}">
        <p14:creationId xmlns:p14="http://schemas.microsoft.com/office/powerpoint/2010/main" val="178780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FA5680-81E3-A438-ED8B-AA57F909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Частичная сумма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7333F-8CA1-0700-F809-938968514971}"/>
              </a:ext>
            </a:extLst>
          </p:cNvPr>
          <p:cNvSpPr txBox="1"/>
          <p:nvPr/>
        </p:nvSpPr>
        <p:spPr>
          <a:xfrm>
            <a:off x="1405467" y="2397173"/>
            <a:ext cx="9491131" cy="468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Частичная сумма ряда: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01EB7E-15D7-A9E2-EB43-31C202B5C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556" y="2865891"/>
            <a:ext cx="3005015" cy="6677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708738-12BC-64DB-0C32-DA6761B4BADB}"/>
              </a:ext>
            </a:extLst>
          </p:cNvPr>
          <p:cNvSpPr txBox="1"/>
          <p:nvPr/>
        </p:nvSpPr>
        <p:spPr>
          <a:xfrm>
            <a:off x="1405467" y="3599958"/>
            <a:ext cx="7397157" cy="1715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Ряд сходиться если, если существует придел :</a:t>
            </a:r>
          </a:p>
          <a:p>
            <a:pPr algn="just">
              <a:lnSpc>
                <a:spcPct val="150000"/>
              </a:lnSpc>
            </a:pP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/>
              <a:t>Где </a:t>
            </a:r>
            <a:r>
              <a:rPr lang="en-US" dirty="0"/>
              <a:t>S </a:t>
            </a:r>
            <a:r>
              <a:rPr lang="ru-RU" dirty="0"/>
              <a:t>– сумма ряда.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Ряд расходиться, если предел не существует или равен </a:t>
            </a:r>
            <a:r>
              <a:rPr lang="ru-RU" b="0" i="0" dirty="0">
                <a:effectLst/>
              </a:rPr>
              <a:t>∞</a:t>
            </a:r>
            <a:r>
              <a:rPr lang="ru-RU" dirty="0"/>
              <a:t>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7C95DC1-E54D-393D-CF6C-594479E4B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67" y="4024817"/>
            <a:ext cx="1343212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94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A1FA5-354F-64C7-C519-5AB5F376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Необходимый признак сходимости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08F289-2728-4B71-3CE0-124ADC5FD631}"/>
              </a:ext>
            </a:extLst>
          </p:cNvPr>
          <p:cNvSpPr txBox="1"/>
          <p:nvPr/>
        </p:nvSpPr>
        <p:spPr>
          <a:xfrm>
            <a:off x="1295401" y="2459548"/>
            <a:ext cx="9601195" cy="2130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Если числовой ряд                   сходится, то его общий член стремится к нулю при :</a:t>
            </a:r>
          </a:p>
          <a:p>
            <a:pPr>
              <a:lnSpc>
                <a:spcPct val="150000"/>
              </a:lnSpc>
            </a:pPr>
            <a:r>
              <a:rPr lang="ru-RU" dirty="0"/>
              <a:t>Важное следствие (достаточный признак расходимости):</a:t>
            </a:r>
          </a:p>
          <a:p>
            <a:pPr>
              <a:lnSpc>
                <a:spcPct val="150000"/>
              </a:lnSpc>
            </a:pPr>
            <a:r>
              <a:rPr lang="ru-RU" dirty="0"/>
              <a:t>Если предел общего члена не равен:</a:t>
            </a:r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то ряд расходится.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597D86-CA7B-F95A-41CF-DD2DAC115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116" y="2459548"/>
            <a:ext cx="876884" cy="54128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A0091FE-A9D1-8886-7FDB-7FB4CFCE9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4130" y="2487269"/>
            <a:ext cx="1171739" cy="48584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87E770A-85BE-B1FA-2BE9-39E9A0B10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440" y="3743005"/>
            <a:ext cx="1124107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063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EC83F-30A2-10B3-10CB-401AC010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Геометрический ряд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2399-B8B3-8A26-C089-6A115D3CA983}"/>
              </a:ext>
            </a:extLst>
          </p:cNvPr>
          <p:cNvSpPr txBox="1"/>
          <p:nvPr/>
        </p:nvSpPr>
        <p:spPr>
          <a:xfrm>
            <a:off x="1295403" y="2460673"/>
            <a:ext cx="9601195" cy="254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Формула ряда:</a:t>
            </a:r>
          </a:p>
          <a:p>
            <a:pPr algn="just">
              <a:lnSpc>
                <a:spcPct val="150000"/>
              </a:lnSpc>
            </a:pP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/>
              <a:t>Условие сходимости: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Ряд сходится, если: |q| &lt; 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Ряд расходится, если: |q| ≥ 1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Формула суммы (</a:t>
            </a:r>
            <a:r>
              <a:rPr lang="en-US" dirty="0"/>
              <a:t>S):</a:t>
            </a:r>
            <a:r>
              <a:rPr lang="ru-RU" dirty="0"/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4C1854-4A67-213F-38CA-6123FC9A0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921758"/>
            <a:ext cx="2248214" cy="4001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5BF40D-E52F-9BE1-9087-FD3E37C5C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006883"/>
            <a:ext cx="2163530" cy="4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019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DCC7C7-11E6-A3CE-FEAB-7028895BA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Гармонический ряд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4BF011-BD1B-4B1C-17E1-7D483A05E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2971307"/>
            <a:ext cx="3591426" cy="362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B27A11-CE31-07C7-94B7-B3B0BB981F23}"/>
              </a:ext>
            </a:extLst>
          </p:cNvPr>
          <p:cNvSpPr txBox="1"/>
          <p:nvPr/>
        </p:nvSpPr>
        <p:spPr>
          <a:xfrm>
            <a:off x="1295402" y="2467000"/>
            <a:ext cx="9484893" cy="2961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Формула ряда:</a:t>
            </a:r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Сходимость:</a:t>
            </a:r>
          </a:p>
          <a:p>
            <a:pPr>
              <a:lnSpc>
                <a:spcPct val="150000"/>
              </a:lnSpc>
            </a:pPr>
            <a:r>
              <a:rPr lang="ru-RU" dirty="0"/>
              <a:t>Ряд всегда расходится.</a:t>
            </a:r>
          </a:p>
          <a:p>
            <a:pPr>
              <a:lnSpc>
                <a:spcPct val="150000"/>
              </a:lnSpc>
            </a:pPr>
            <a:r>
              <a:rPr lang="ru-RU" dirty="0"/>
              <a:t>Особенность:</a:t>
            </a:r>
          </a:p>
          <a:p>
            <a:pPr>
              <a:lnSpc>
                <a:spcPct val="150000"/>
              </a:lnSpc>
            </a:pPr>
            <a:r>
              <a:rPr lang="ru-RU" dirty="0"/>
              <a:t>Этот ряд — главный пример того, что стремление общего члена к нулю (1/n → 0) не гарантирует сходимость ряда. Сумма этого ряда бесконечно растет (S = ∞).</a:t>
            </a:r>
          </a:p>
        </p:txBody>
      </p:sp>
    </p:spTree>
    <p:extLst>
      <p:ext uri="{BB962C8B-B14F-4D97-AF65-F5344CB8AC3E}">
        <p14:creationId xmlns:p14="http://schemas.microsoft.com/office/powerpoint/2010/main" val="379153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CBF047-E6B8-60BB-5278-429393A78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Знакочередующийся ряд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44ADF4-F933-CCDD-D8F5-0180999B9C3F}"/>
              </a:ext>
            </a:extLst>
          </p:cNvPr>
          <p:cNvSpPr txBox="1"/>
          <p:nvPr/>
        </p:nvSpPr>
        <p:spPr>
          <a:xfrm>
            <a:off x="1295402" y="2633472"/>
            <a:ext cx="9601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Ряд, члены которого поочередно меняют знак (плюс на минус)</a:t>
            </a:r>
          </a:p>
          <a:p>
            <a:pPr>
              <a:lnSpc>
                <a:spcPct val="150000"/>
              </a:lnSpc>
            </a:pPr>
            <a:r>
              <a:rPr lang="ru-RU" dirty="0"/>
              <a:t>Записывается в виде: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243004-10C2-DB55-176B-DC852562D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3554862"/>
            <a:ext cx="3304032" cy="69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88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7EF80-F9A2-C37F-F9C9-D9846F00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Признак Лейбница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75F69-4586-1367-80D9-5EB073FDA6AD}"/>
              </a:ext>
            </a:extLst>
          </p:cNvPr>
          <p:cNvSpPr txBox="1"/>
          <p:nvPr/>
        </p:nvSpPr>
        <p:spPr>
          <a:xfrm>
            <a:off x="1155032" y="2566737"/>
            <a:ext cx="9741566" cy="254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Применяется для знакочередующихся рядов вида:</a:t>
            </a:r>
          </a:p>
          <a:p>
            <a:pPr>
              <a:lnSpc>
                <a:spcPct val="150000"/>
              </a:lnSpc>
            </a:pP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/>
              <a:t>Условия сходимости (два пункта):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Члены ряда убывают по модулю: aₙ₊₁ ≤ aₙ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Предел общего члена равен нулю: lim (n→∞) aₙ = 0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Если оба условия выполнены, то ряд сходится.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F524F0-FF17-6F78-9602-057BCC32A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3059668"/>
            <a:ext cx="4628185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186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BA6750-42BC-DB1C-094A-83EC0C8B9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Признак Даламбера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A61B1-4BE9-7604-812B-E29CAF969509}"/>
              </a:ext>
            </a:extLst>
          </p:cNvPr>
          <p:cNvSpPr txBox="1"/>
          <p:nvPr/>
        </p:nvSpPr>
        <p:spPr>
          <a:xfrm>
            <a:off x="1414272" y="2560320"/>
            <a:ext cx="9482326" cy="337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Используется для рядов с положительными членами (aₙ &gt; 0).</a:t>
            </a:r>
          </a:p>
          <a:p>
            <a:pPr>
              <a:lnSpc>
                <a:spcPct val="150000"/>
              </a:lnSpc>
            </a:pPr>
            <a:r>
              <a:rPr lang="ru-RU" dirty="0"/>
              <a:t>Суть признака:</a:t>
            </a:r>
          </a:p>
          <a:p>
            <a:pPr>
              <a:lnSpc>
                <a:spcPct val="150000"/>
              </a:lnSpc>
            </a:pPr>
            <a:r>
              <a:rPr lang="ru-RU" dirty="0"/>
              <a:t>Нужно найти предел отношения последующего члена к предыдущему:</a:t>
            </a:r>
          </a:p>
          <a:p>
            <a:pPr>
              <a:lnSpc>
                <a:spcPct val="150000"/>
              </a:lnSpc>
            </a:pPr>
            <a:r>
              <a:rPr lang="en-US" dirty="0"/>
              <a:t>p</a:t>
            </a:r>
            <a:r>
              <a:rPr lang="ru-RU" dirty="0"/>
              <a:t> = lim (n→∞) (aₙ₊₁ / aₙ)</a:t>
            </a:r>
          </a:p>
          <a:p>
            <a:pPr>
              <a:lnSpc>
                <a:spcPct val="150000"/>
              </a:lnSpc>
            </a:pPr>
            <a:r>
              <a:rPr lang="ru-RU" dirty="0"/>
              <a:t>Критерий: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Если </a:t>
            </a:r>
            <a:r>
              <a:rPr lang="en-US" dirty="0"/>
              <a:t>p</a:t>
            </a:r>
            <a:r>
              <a:rPr lang="ru-RU" dirty="0"/>
              <a:t> &lt; 1 — ряд сходится.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Если </a:t>
            </a:r>
            <a:r>
              <a:rPr lang="en-US" dirty="0"/>
              <a:t>p</a:t>
            </a:r>
            <a:r>
              <a:rPr lang="ru-RU" dirty="0"/>
              <a:t> &gt; 1 — ряд расходится.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Если </a:t>
            </a:r>
            <a:r>
              <a:rPr lang="en-US" dirty="0"/>
              <a:t>p</a:t>
            </a:r>
            <a:r>
              <a:rPr lang="ru-RU" dirty="0"/>
              <a:t> = 1 — признак ответа не дает (требуется другой метод).</a:t>
            </a:r>
          </a:p>
        </p:txBody>
      </p:sp>
    </p:spTree>
    <p:extLst>
      <p:ext uri="{BB962C8B-B14F-4D97-AF65-F5344CB8AC3E}">
        <p14:creationId xmlns:p14="http://schemas.microsoft.com/office/powerpoint/2010/main" val="113580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B4DF26-CB2F-2ABA-7434-2162D9DD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Признак Коши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9DDABE-CE5F-99BA-0172-B4D692B8C5F5}"/>
              </a:ext>
            </a:extLst>
          </p:cNvPr>
          <p:cNvSpPr txBox="1"/>
          <p:nvPr/>
        </p:nvSpPr>
        <p:spPr>
          <a:xfrm>
            <a:off x="1389888" y="2572512"/>
            <a:ext cx="9506710" cy="337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Используется для рядов с положительными членами (aₙ &gt; 0).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Суть признака: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Нужно найти предел корня n-й степени из общего члена ряда: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p</a:t>
            </a:r>
            <a:r>
              <a:rPr lang="ru-RU" dirty="0"/>
              <a:t> = lim (n→∞) ⁿ√aₙ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Критерий: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Если </a:t>
            </a:r>
            <a:r>
              <a:rPr lang="en-US" dirty="0"/>
              <a:t>p</a:t>
            </a:r>
            <a:r>
              <a:rPr lang="ru-RU" dirty="0"/>
              <a:t> &lt; 1 — ряд сходится.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Если </a:t>
            </a:r>
            <a:r>
              <a:rPr lang="en-US" dirty="0"/>
              <a:t>p</a:t>
            </a:r>
            <a:r>
              <a:rPr lang="ru-RU" dirty="0"/>
              <a:t> &gt; 1 — ряд расходится.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Если </a:t>
            </a:r>
            <a:r>
              <a:rPr lang="en-US" dirty="0"/>
              <a:t>p</a:t>
            </a:r>
            <a:r>
              <a:rPr lang="ru-RU" dirty="0"/>
              <a:t> = 1 — признак ответа не дает.</a:t>
            </a:r>
          </a:p>
        </p:txBody>
      </p:sp>
    </p:spTree>
    <p:extLst>
      <p:ext uri="{BB962C8B-B14F-4D97-AF65-F5344CB8AC3E}">
        <p14:creationId xmlns:p14="http://schemas.microsoft.com/office/powerpoint/2010/main" val="3478170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3E7D1-9C1A-692D-D282-D66185FF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63DCC-990B-49C1-55A0-20654BA45C16}"/>
              </a:ext>
            </a:extLst>
          </p:cNvPr>
          <p:cNvSpPr txBox="1"/>
          <p:nvPr/>
        </p:nvSpPr>
        <p:spPr>
          <a:xfrm>
            <a:off x="1389888" y="2548128"/>
            <a:ext cx="9506710" cy="2130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Вычисления: расчет значений </a:t>
            </a:r>
            <a:r>
              <a:rPr lang="ru-RU" dirty="0" err="1"/>
              <a:t>sin</a:t>
            </a:r>
            <a:r>
              <a:rPr lang="ru-RU" dirty="0"/>
              <a:t>(x), </a:t>
            </a:r>
            <a:r>
              <a:rPr lang="ru-RU" dirty="0" err="1"/>
              <a:t>cos</a:t>
            </a:r>
            <a:r>
              <a:rPr lang="ru-RU" dirty="0"/>
              <a:t>(x), </a:t>
            </a:r>
            <a:r>
              <a:rPr lang="ru-RU" dirty="0" err="1"/>
              <a:t>eˣ</a:t>
            </a:r>
            <a:r>
              <a:rPr lang="ru-RU" dirty="0"/>
              <a:t> и логарифмов в калькуляторах.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Физика: моделирование звуковых волн, тепла и колебаний.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IT и графика: сжатие данных (MP3, JPEG) и цифровая обработка сигналов.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Экономика: расчет сложных процентов и банковских платежей.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Математика: приближенное решение сложных уравнений и интегралов.</a:t>
            </a:r>
          </a:p>
        </p:txBody>
      </p:sp>
    </p:spTree>
    <p:extLst>
      <p:ext uri="{BB962C8B-B14F-4D97-AF65-F5344CB8AC3E}">
        <p14:creationId xmlns:p14="http://schemas.microsoft.com/office/powerpoint/2010/main" val="2509582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B3721-2848-E897-76DA-FA2006625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DA232-7E29-BF1F-90C3-54CC6FC4504C}"/>
              </a:ext>
            </a:extLst>
          </p:cNvPr>
          <p:cNvSpPr txBox="1"/>
          <p:nvPr/>
        </p:nvSpPr>
        <p:spPr>
          <a:xfrm>
            <a:off x="1402080" y="2523744"/>
            <a:ext cx="9494518" cy="254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Числовые ряды — это фундаментальный инструмент математического анализа.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Главная задача при изучении ряда — определение его сходимости и нахождение суммы.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Использование признаков сходимости (Даламбера, Коши, Лейбница) позволяет исследовать бесконечные процессы без выполнения бесконечного сложения.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Ряды являются основой для работы современных технологий: от калькуляторов до систем обработки медиа данных.</a:t>
            </a:r>
          </a:p>
        </p:txBody>
      </p:sp>
    </p:spTree>
    <p:extLst>
      <p:ext uri="{BB962C8B-B14F-4D97-AF65-F5344CB8AC3E}">
        <p14:creationId xmlns:p14="http://schemas.microsoft.com/office/powerpoint/2010/main" val="42504777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TM02900743[[fn=Натуральные материалы]]</Template>
  <TotalTime>79</TotalTime>
  <Words>532</Words>
  <Application>Microsoft Office PowerPoint</Application>
  <PresentationFormat>Широкоэкранный</PresentationFormat>
  <Paragraphs>76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Garamond</vt:lpstr>
      <vt:lpstr>Натуральные материалы</vt:lpstr>
      <vt:lpstr>Числовые ряды</vt:lpstr>
      <vt:lpstr>Понятие числового ряда</vt:lpstr>
      <vt:lpstr>Общий вид ряда</vt:lpstr>
      <vt:lpstr>Частичная сумма</vt:lpstr>
      <vt:lpstr>Необходимый признак сходимости</vt:lpstr>
      <vt:lpstr>Геометрический ряд</vt:lpstr>
      <vt:lpstr>Гармонический ряд</vt:lpstr>
      <vt:lpstr>Знакочередующийся ряд</vt:lpstr>
      <vt:lpstr>Признак Лейбница</vt:lpstr>
      <vt:lpstr>Признак Даламбера</vt:lpstr>
      <vt:lpstr>Признак Коши</vt:lpstr>
      <vt:lpstr>Применения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Разумов</dc:creator>
  <cp:lastModifiedBy>Илья Разумов</cp:lastModifiedBy>
  <cp:revision>1</cp:revision>
  <dcterms:created xsi:type="dcterms:W3CDTF">2026-04-19T17:46:42Z</dcterms:created>
  <dcterms:modified xsi:type="dcterms:W3CDTF">2026-04-19T19:06:06Z</dcterms:modified>
</cp:coreProperties>
</file>